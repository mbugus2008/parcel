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sldLayoutIdLst>
    <p:sldLayoutId id="1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 txBox="1"/>
          <p:nvPr/>
        </p:nvSpPr>
        <p:spPr>
          <a:xfrm>
            <a:off x="685800" y="411480"/>
            <a:ext cx="10886400" cy="1143000"/>
          </a:xfrm>
        </p:spPr>
        <p:txBody>
          <a:bodyPr wrap="square"/>
          <a:lstStyle/>
          <a:p>
            <a:pPr algn="ctr"/>
            <a:r>
              <a:rPr lang="en-US" sz="5200" b="1"/>
              <a:t>Trimline Parcel</a:t>
            </a:r>
            <a:endParaRPr lang="en-US" sz="5200"/>
          </a:p>
        </p:txBody>
      </p:sp>
      <p:sp>
        <p:nvSpPr>
          <p:cNvPr id="3" name="Content 1"/>
          <p:cNvSpPr txBox="1"/>
          <p:nvPr/>
        </p:nvSpPr>
        <p:spPr>
          <a:xfrm>
            <a:off x="685800" y="1651000"/>
            <a:ext cx="10886400" cy="3302000"/>
          </a:xfrm>
        </p:spPr>
        <p:txBody>
          <a:bodyPr wrap="square"/>
          <a:lstStyle/>
          <a:p>
            <a:pPr algn="ctr"/>
            <a:r>
              <a:rPr lang="en-US" sz="3200"/>
              <a:t>Operational Dashboard Overview</a:t>
            </a:r>
            <a:endParaRPr lang="en-US" sz="3200"/>
          </a:p>
          <a:p>
            <a:pPr algn="ctr"/>
            <a:r>
              <a:rPr lang="en-US" sz="2400"/>
              <a:t>Logistics visibility for Trimline courier teams</a:t>
            </a:r>
            <a:endParaRPr 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2"/>
          <p:cNvSpPr txBox="1"/>
          <p:nvPr/>
        </p:nvSpPr>
        <p:spPr>
          <a:xfrm>
            <a:off x="685800" y="411480"/>
            <a:ext cx="10886400" cy="1143000"/>
          </a:xfrm>
        </p:spPr>
        <p:txBody>
          <a:bodyPr wrap="square"/>
          <a:lstStyle/>
          <a:p>
            <a:pPr algn="ctr"/>
            <a:r>
              <a:rPr lang="en-US" sz="5200" b="1"/>
              <a:t>Problem &amp; Goals</a:t>
            </a:r>
            <a:endParaRPr lang="en-US" sz="5200"/>
          </a:p>
        </p:txBody>
      </p:sp>
      <p:sp>
        <p:nvSpPr>
          <p:cNvPr id="3" name="Content 2"/>
          <p:cNvSpPr txBox="1"/>
          <p:nvPr/>
        </p:nvSpPr>
        <p:spPr>
          <a:xfrm>
            <a:off x="685800" y="1651000"/>
            <a:ext cx="10886400" cy="3302000"/>
          </a:xfrm>
        </p:spPr>
        <p:txBody>
          <a:bodyPr wrap="square"/>
          <a:lstStyle/>
          <a:p>
            <a:pPr lvl="0">
              <a:spcBef>
                <a:spcPts val="200"/>
              </a:spcBef>
              <a:buChar char="•"/>
            </a:pPr>
            <a:r>
              <a:rPr lang="en-US" sz="2600"/>
              <a:t>Manual parcel tracking scattered across spreadsheets and chats</a:t>
            </a:r>
            <a:endParaRPr lang="en-US" sz="2600"/>
          </a:p>
          <a:p>
            <a:pPr lvl="0">
              <a:spcBef>
                <a:spcPts val="200"/>
              </a:spcBef>
              <a:buChar char="•"/>
            </a:pPr>
            <a:r>
              <a:rPr lang="en-US" sz="2600"/>
              <a:t>Need near real-time status visibility for operations and support</a:t>
            </a:r>
            <a:endParaRPr lang="en-US" sz="2600"/>
          </a:p>
          <a:p>
            <a:pPr lvl="0">
              <a:spcBef>
                <a:spcPts val="200"/>
              </a:spcBef>
              <a:buChar char="•"/>
            </a:pPr>
            <a:r>
              <a:rPr lang="en-US" sz="2600"/>
              <a:t>Provide a unified workflow to log, update, and audit parcel journeys</a:t>
            </a:r>
            <a:endParaRPr lang="en-US" sz="2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3"/>
          <p:cNvSpPr txBox="1"/>
          <p:nvPr/>
        </p:nvSpPr>
        <p:spPr>
          <a:xfrm>
            <a:off x="685800" y="411480"/>
            <a:ext cx="10886400" cy="1143000"/>
          </a:xfrm>
        </p:spPr>
        <p:txBody>
          <a:bodyPr wrap="square"/>
          <a:lstStyle/>
          <a:p>
            <a:pPr algn="ctr"/>
            <a:r>
              <a:rPr lang="en-US" sz="5200" b="1"/>
              <a:t>Key Features</a:t>
            </a:r>
            <a:endParaRPr lang="en-US" sz="5200"/>
          </a:p>
        </p:txBody>
      </p:sp>
      <p:sp>
        <p:nvSpPr>
          <p:cNvPr id="3" name="Content 3"/>
          <p:cNvSpPr txBox="1"/>
          <p:nvPr/>
        </p:nvSpPr>
        <p:spPr>
          <a:xfrm>
            <a:off x="685800" y="1651000"/>
            <a:ext cx="10886400" cy="3302000"/>
          </a:xfrm>
        </p:spPr>
        <p:txBody>
          <a:bodyPr wrap="square"/>
          <a:lstStyle/>
          <a:p>
            <a:pPr lvl="0">
              <a:spcBef>
                <a:spcPts val="200"/>
              </a:spcBef>
              <a:buChar char="•"/>
            </a:pPr>
            <a:r>
              <a:rPr lang="en-US" sz="2600"/>
              <a:t>Parcel dashboard with live status cards and workload snapshots</a:t>
            </a:r>
            <a:endParaRPr lang="en-US" sz="2600"/>
          </a:p>
          <a:p>
            <a:pPr lvl="0">
              <a:spcBef>
                <a:spcPts val="200"/>
              </a:spcBef>
              <a:buChar char="•"/>
            </a:pPr>
            <a:r>
              <a:rPr lang="en-US" sz="2600"/>
              <a:t>Smart search &amp; filtering powered by GetX observable state</a:t>
            </a:r>
            <a:endParaRPr lang="en-US" sz="2600"/>
          </a:p>
          <a:p>
            <a:pPr lvl="0">
              <a:spcBef>
                <a:spcPts val="200"/>
              </a:spcBef>
              <a:buChar char="•"/>
            </a:pPr>
            <a:r>
              <a:rPr lang="en-US" sz="2600"/>
              <a:t>Guided add/edit form for quick parcel intake and updates</a:t>
            </a:r>
            <a:endParaRPr lang="en-US" sz="2600"/>
          </a:p>
          <a:p>
            <a:pPr lvl="0">
              <a:spcBef>
                <a:spcPts val="200"/>
              </a:spcBef>
              <a:buChar char="•"/>
            </a:pPr>
            <a:r>
              <a:rPr lang="en-US" sz="2600"/>
              <a:t>Drawer shortcuts for frequent actions and support touchpoints</a:t>
            </a:r>
            <a:endParaRPr lang="en-US"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4"/>
          <p:cNvSpPr txBox="1"/>
          <p:nvPr/>
        </p:nvSpPr>
        <p:spPr>
          <a:xfrm>
            <a:off x="685800" y="411480"/>
            <a:ext cx="10886400" cy="1143000"/>
          </a:xfrm>
        </p:spPr>
        <p:txBody>
          <a:bodyPr wrap="square"/>
          <a:lstStyle/>
          <a:p>
            <a:pPr algn="ctr"/>
            <a:r>
              <a:rPr lang="en-US" sz="5200" b="1"/>
              <a:t>Solution Architecture</a:t>
            </a:r>
            <a:endParaRPr lang="en-US" sz="5200"/>
          </a:p>
        </p:txBody>
      </p:sp>
      <p:sp>
        <p:nvSpPr>
          <p:cNvPr id="3" name="Content 4"/>
          <p:cNvSpPr txBox="1"/>
          <p:nvPr/>
        </p:nvSpPr>
        <p:spPr>
          <a:xfrm>
            <a:off x="685800" y="1651000"/>
            <a:ext cx="10886400" cy="3302000"/>
          </a:xfrm>
        </p:spPr>
        <p:txBody>
          <a:bodyPr wrap="square"/>
          <a:lstStyle/>
          <a:p>
            <a:pPr lvl="0">
              <a:spcBef>
                <a:spcPts val="200"/>
              </a:spcBef>
              <a:buChar char="•"/>
            </a:pPr>
            <a:r>
              <a:rPr lang="en-US" sz="2600"/>
              <a:t>Flutter UI consumes GetX controllers, backed by SQLite persistence</a:t>
            </a:r>
            <a:endParaRPr lang="en-US" sz="2600"/>
          </a:p>
          <a:p>
            <a:pPr lvl="0">
              <a:spcBef>
                <a:spcPts val="200"/>
              </a:spcBef>
              <a:buChar char="•"/>
            </a:pPr>
            <a:r>
              <a:rPr lang="en-US" sz="2600"/>
              <a:t>Controllers orchestrate status changes, validation, and search debounce</a:t>
            </a:r>
            <a:endParaRPr lang="en-US" sz="2600"/>
          </a:p>
          <a:p>
            <a:pPr lvl="0">
              <a:spcBef>
                <a:spcPts val="200"/>
              </a:spcBef>
              <a:buChar char="•"/>
            </a:pPr>
            <a:r>
              <a:rPr lang="en-US" sz="2600"/>
              <a:t>Extensible layer for integrating external tracking APIs</a:t>
            </a:r>
            <a:endParaRPr lang="en-US" sz="2600"/>
          </a:p>
        </p:txBody>
      </p:sp>
      <p:pic>
        <p:nvPicPr>
          <p:cNvPr id="4" name="Architecture Dia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2667000"/>
            <a:ext cx="105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5"/>
          <p:cNvSpPr txBox="1"/>
          <p:nvPr/>
        </p:nvSpPr>
        <p:spPr>
          <a:xfrm>
            <a:off x="685800" y="411480"/>
            <a:ext cx="10886400" cy="1143000"/>
          </a:xfrm>
        </p:spPr>
        <p:txBody>
          <a:bodyPr wrap="square"/>
          <a:lstStyle/>
          <a:p>
            <a:pPr algn="ctr"/>
            <a:r>
              <a:rPr lang="en-US" sz="5200" b="1"/>
              <a:t>Dashboard Experience</a:t>
            </a:r>
            <a:endParaRPr lang="en-US" sz="5200"/>
          </a:p>
        </p:txBody>
      </p:sp>
      <p:sp>
        <p:nvSpPr>
          <p:cNvPr id="3" name="Content 5"/>
          <p:cNvSpPr txBox="1"/>
          <p:nvPr/>
        </p:nvSpPr>
        <p:spPr>
          <a:xfrm>
            <a:off x="685800" y="1651000"/>
            <a:ext cx="10886400" cy="3302000"/>
          </a:xfrm>
        </p:spPr>
        <p:txBody>
          <a:bodyPr wrap="square"/>
          <a:lstStyle/>
          <a:p>
            <a:pPr lvl="0">
              <a:spcBef>
                <a:spcPts val="200"/>
              </a:spcBef>
              <a:buChar char="•"/>
            </a:pPr>
            <a:r>
              <a:rPr lang="en-US" sz="2600"/>
              <a:t>Hot actions surfaced in the drawer for one-tap navigation</a:t>
            </a:r>
            <a:endParaRPr lang="en-US" sz="2600"/>
          </a:p>
          <a:p>
            <a:pPr lvl="0">
              <a:spcBef>
                <a:spcPts val="200"/>
              </a:spcBef>
              <a:buChar char="•"/>
            </a:pPr>
            <a:r>
              <a:rPr lang="en-US" sz="2600"/>
              <a:t>Emphasis on clarity with dark navy palette and accent cues</a:t>
            </a:r>
            <a:endParaRPr lang="en-US" sz="2600"/>
          </a:p>
          <a:p>
            <a:pPr lvl="0">
              <a:spcBef>
                <a:spcPts val="200"/>
              </a:spcBef>
              <a:buChar char="•"/>
            </a:pPr>
            <a:r>
              <a:rPr lang="en-US" sz="2600"/>
              <a:t>Filter sheet educates operators on parcel lifecycle milestones</a:t>
            </a:r>
            <a:endParaRPr lang="en-US" sz="2600"/>
          </a:p>
        </p:txBody>
      </p:sp>
      <p:pic>
        <p:nvPicPr>
          <p:cNvPr id="4" name="Dashboard Highlights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2476500"/>
            <a:ext cx="10500000" cy="32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6"/>
          <p:cNvSpPr txBox="1"/>
          <p:nvPr/>
        </p:nvSpPr>
        <p:spPr>
          <a:xfrm>
            <a:off x="685800" y="411480"/>
            <a:ext cx="10886400" cy="1143000"/>
          </a:xfrm>
        </p:spPr>
        <p:txBody>
          <a:bodyPr wrap="square"/>
          <a:lstStyle/>
          <a:p>
            <a:pPr algn="ctr"/>
            <a:r>
              <a:rPr lang="en-US" sz="5200" b="1"/>
              <a:t>Roadmap &amp; Next Steps</a:t>
            </a:r>
            <a:endParaRPr lang="en-US" sz="5200"/>
          </a:p>
        </p:txBody>
      </p:sp>
      <p:sp>
        <p:nvSpPr>
          <p:cNvPr id="3" name="Content 6"/>
          <p:cNvSpPr txBox="1"/>
          <p:nvPr/>
        </p:nvSpPr>
        <p:spPr>
          <a:xfrm>
            <a:off x="685800" y="1651000"/>
            <a:ext cx="10886400" cy="3302000"/>
          </a:xfrm>
        </p:spPr>
        <p:txBody>
          <a:bodyPr wrap="square"/>
          <a:lstStyle/>
          <a:p>
            <a:pPr lvl="0">
              <a:spcBef>
                <a:spcPts val="200"/>
              </a:spcBef>
              <a:buChar char="•"/>
            </a:pPr>
            <a:r>
              <a:rPr lang="en-US" sz="2600"/>
              <a:t>Integrate push notifications for courier events (ready for dispatch, collected)</a:t>
            </a:r>
            <a:endParaRPr lang="en-US" sz="2600"/>
          </a:p>
          <a:p>
            <a:pPr lvl="0">
              <a:spcBef>
                <a:spcPts val="200"/>
              </a:spcBef>
              <a:buChar char="•"/>
            </a:pPr>
            <a:r>
              <a:rPr lang="en-US" sz="2600"/>
              <a:t>Add analytics exports with parcel aging and SLA breach trends</a:t>
            </a:r>
            <a:endParaRPr lang="en-US" sz="2600"/>
          </a:p>
          <a:p>
            <a:pPr lvl="0">
              <a:spcBef>
                <a:spcPts val="200"/>
              </a:spcBef>
              <a:buChar char="•"/>
            </a:pPr>
            <a:r>
              <a:rPr lang="en-US" sz="2600"/>
              <a:t>Automate nightly sync with partner tracking systems</a:t>
            </a:r>
            <a:endParaRPr lang="en-US" sz="2600"/>
          </a:p>
          <a:p>
            <a:pPr lvl="0">
              <a:spcBef>
                <a:spcPts val="200"/>
              </a:spcBef>
              <a:buChar char="•"/>
            </a:pPr>
            <a:r>
              <a:rPr lang="en-US" sz="2600"/>
              <a:t>Harden QA via widget tests for controller-driven flows</a:t>
            </a:r>
            <a:endParaRPr lang="en-US" sz="2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ark">
  <a:themeElements>
    <a:clrScheme name="Trimline">
      <a:dk1>
        <a:srgbClr val="000000"/>
      </a:dk1>
      <a:lt1>
        <a:srgbClr val="FFFFFF"/>
      </a:lt1>
      <a:dk2>
        <a:srgbClr val="0F172A"/>
      </a:dk2>
      <a:lt2>
        <a:srgbClr val="E2E8F0"/>
      </a:lt2>
      <a:accent1>
        <a:srgbClr val="2563EB"/>
      </a:accent1>
      <a:accent2>
        <a:srgbClr val="38BDF8"/>
      </a:accent2>
      <a:accent3>
        <a:srgbClr val="FBBF24"/>
      </a:accent3>
      <a:accent4>
        <a:srgbClr val="10B981"/>
      </a:accent4>
      <a:accent5>
        <a:srgbClr val="F472B6"/>
      </a:accent5>
      <a:accent6>
        <a:srgbClr val="F97316"/>
      </a:accent6>
      <a:hlink>
        <a:srgbClr val="2563EB"/>
      </a:hlink>
      <a:folHlink>
        <a:srgbClr val="1D4ED8"/>
      </a:folHlink>
    </a:clrScheme>
    <a:fontScheme name="Trimline Typeface">
      <a:majorFont>
        <a:latin typeface="Segoe UI"/>
      </a:majorFont>
      <a:minorFont>
        <a:latin typeface="Segoe UI"/>
      </a:minorFont>
    </a:fontScheme>
    <a:fmtScheme name="Trimline Format">
      <a:fillStyleLst>
        <a:solidFill>
          <a:schemeClr val="accent1"/>
        </a:solidFill>
        <a:solidFill>
          <a:schemeClr val="accent2"/>
        </a:solidFill>
      </a:fillStyleLst>
      <a:lnStyleLst>
        <a:ln w="9525">
          <a:solidFill>
            <a:schemeClr val="accent1"/>
          </a:solidFill>
        </a:ln>
        <a:ln w="9525">
          <a:solidFill>
            <a:schemeClr val="accent2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Generator</Application>
  <PresentationFormat>16x9</PresentationFormat>
  <Slides>6</Slides>
  <Notes>0</Notes>
  <HiddenSlides>0</HiddenSlides>
  <MMClips>0</MMClip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Trimline Parcel Overview</dc:title>
  <dc:subject>Parcel operations dashboard</dc:subject>
  <dc:creator>Codex Assistant</dc:creator>
  <cp:lastModifiedBy>Codex Assistant</cp:lastModifiedBy>
  <dcterms:created xsi:type="dcterms:W3CDTF">2025-09-29T15:06:51Z</dcterms:created>
  <dcterms:modified xsi:type="dcterms:W3CDTF">2025-09-29T15:06:51Z</dcterms:modified>
</cp:coreProperties>
</file>